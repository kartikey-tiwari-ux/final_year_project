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03774" y="1033272"/>
            <a:ext cx="768096" cy="768096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26226" y="1033272"/>
            <a:ext cx="768096" cy="768096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ADCFC"/>
                </a:solidFill>
                <a:latin typeface="Calibri"/>
              </a:rPr>
              <a:t>GROUP 15 · FINAL YEAR PROJECT (CSE) · AKGEC, GHAZIABAD (AKTU)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AI-Driven Multimodal Sentiment Analysis for
Mental Health Monitoring on Social Media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EB6834"/>
                </a:solidFill>
                <a:latin typeface="Cambria"/>
              </a:rPr>
              <a:t>A Resource-Constrained Comparative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Kartikey Tiwari   ·   Akshat Sharma   ·   Karan Sharma   ·   Lalit Sharma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ADCFC"/>
                </a:solidFill>
                <a:latin typeface="Calibri"/>
              </a:rPr>
              <a:t>Supervisor: Dr. Avdhesh Gupta  |  Dept. of CSE  |  Session 2023–2027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The Problem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171907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Half the signal, missed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2066544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A social media post pairs text with an image. Text-only or image-only sentiment analysis each discard the other modality's signal.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309067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A testable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3438144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Does combining both actually improve sentiment classification? This project tests it with real, same-dataset experiments rather than assuming the answer.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446227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Why it matters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809744"/>
            <a:ext cx="6217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Framed explicitly as mental-health-related sentiment monitoring support — never diagnosis (Section VIII).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29184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862822" y="2514600"/>
            <a:ext cx="1188720" cy="118872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16618" y="2514600"/>
            <a:ext cx="1188720" cy="11887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977639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977639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Image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48056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5B6B7A"/>
                </a:solidFill>
                <a:latin typeface="Calibri"/>
              </a:rPr>
              <a:t>Two signals,
one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WHY THIS RESEARCH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Motivation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1810512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Digital-first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2157984"/>
            <a:ext cx="9784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Mental-health awareness and expression is increasingly happening on social media first.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3227832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A large, real data 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3575304"/>
            <a:ext cx="9784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Social platforms generate a vast, real (not simulated) record of expressed sentiment.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4645152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Support, not replacement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992624"/>
            <a:ext cx="97840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AI can support mental-health-related monitoring and research — never replace a qualified professional. This non-clinical framing is maintained everywhere: code, UI, paper, and this deck.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Existing Approaches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4290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Text-based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9718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NLP / transformers (e.g. MentalBERT)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Strong language understanding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Limitation: ignores visual 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83080"/>
            <a:ext cx="34290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9659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Image-based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468880"/>
            <a:ext cx="29718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CNN-based emotion recognition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Strong visual feature extraction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Limitation: ignores textual meaning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783080"/>
            <a:ext cx="34290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9659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Multimodal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68880"/>
            <a:ext cx="2971800" cy="3200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Active, well-populated research area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Mature fusion-strategy taxonomy exists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Gap: lacks controlled same-metrics comparison on real social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WHAT'S MISSING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Research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B6834"/>
                </a:solidFill>
                <a:latin typeface="Cambria"/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9923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B7A"/>
                </a:solidFill>
                <a:latin typeface="Calibri"/>
              </a:rPr>
              <a:t>pairs — closest prior
social-media comparison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1828800"/>
            <a:ext cx="31089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993392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B6834"/>
                </a:solidFill>
                <a:latin typeface="Cambria"/>
              </a:rPr>
              <a:t>4,511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999232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B7A"/>
                </a:solidFill>
                <a:latin typeface="Calibri"/>
              </a:rPr>
              <a:t>real pairs — this
project's comparison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28800"/>
            <a:ext cx="40233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1993392"/>
            <a:ext cx="3749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B6834"/>
                </a:solidFill>
                <a:latin typeface="Cambria"/>
              </a:rPr>
              <a:t>CPU-only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999232"/>
            <a:ext cx="3749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B7A"/>
                </a:solidFill>
                <a:latin typeface="Calibri"/>
              </a:rPr>
              <a:t>most literature is GPU-scale;
we report what this costs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069848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16213E"/>
                </a:solidFill>
                <a:latin typeface="Calibri"/>
              </a:rPr>
              <a:t>•  No located prior work does a controlled, same-dataset, same-metrics text-vs-image-vs-multimodal comparison on adequately-sized real social-media data.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16213E"/>
                </a:solidFill>
                <a:latin typeface="Calibri"/>
              </a:rPr>
              <a:t>•  This project addresses that gap directly, and documents the real resource constraints of doing so on consumer CPU-only hardware.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RESEARCH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Objectives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1810512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Build and compare Text-only, Image-only, and Multimodal models on the same data and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2157984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/>
            </a:r>
          </a:p>
        </p:txBody>
      </p:sp>
      <p:sp>
        <p:nvSpPr>
          <p:cNvPr id="7" name="Oval 6"/>
          <p:cNvSpPr/>
          <p:nvPr/>
        </p:nvSpPr>
        <p:spPr>
          <a:xfrm>
            <a:off x="731520" y="2907791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889503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Determine whether — and under what conditions — fusion helps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3236975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86783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968495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Analyze modality conflict and errors honestly, including where fusion underperforms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315967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/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065776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5047488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Document resource-constrained reproduction on CPU-only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5394960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RESEARCH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B6834"/>
                </a:solidFill>
                <a:latin typeface="Cambria"/>
              </a:rPr>
              <a:t>Primary RQ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4241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Can combining text and image improve sentiment classification of social-media posts over text-only and image-only models?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32278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RQ-a 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357530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How well does text alone do: traditional TF-IDF vs. transformer (DistilBERT)?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322783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RQ-b 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357530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What does the image add: CNN from scratch vs. pretrained ResNet18?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66344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46451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RQ-c  Conflict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499262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Does fusion help uniformly, or mainly where text and image disagree?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466344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464515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RQ-d  Memes (new)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4992624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When the text is printed inside the image, is the fusion gain real visual signal, or the image re-reading the text?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RESEARCH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Dataset — MVSA-Single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39496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450">
                <a:solidFill>
                  <a:srgbClr val="16213E"/>
                </a:solidFill>
                <a:latin typeface="Calibri"/>
              </a:rPr>
              <a:t>•  4,511 real Twitter image+text pairs (after standard cleaning), 3-class sentiment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450">
                <a:solidFill>
                  <a:srgbClr val="16213E"/>
                </a:solidFill>
                <a:latin typeface="Calibri"/>
              </a:rPr>
              <a:t>•  Published train/dev/test split (3,611 / 450 / 450) from CLMLF (NAACL 2022) for comparability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450">
                <a:solidFill>
                  <a:srgbClr val="16213E"/>
                </a:solidFill>
                <a:latin typeface="Calibri"/>
              </a:rPr>
              <a:t>•  Real acquisition challenge: the official distribution link was dead (404) — we found and content-verified a HuggingFace mirror instead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450">
                <a:solidFill>
                  <a:srgbClr val="16213E"/>
                </a:solidFill>
                <a:latin typeface="Calibri"/>
              </a:rPr>
              <a:t>•  Class imbalance motivates macro-F1 as the primary metric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258560" y="1880870"/>
            <a:ext cx="5313680" cy="40106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31670"/>
            <a:ext cx="5212080" cy="39090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RESEARCH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Proposed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834640" cy="7772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Text Pipeline
(cleaning -&gt; embedding)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95360" y="2011680"/>
            <a:ext cx="2834640" cy="7772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Image Pipeline
(resize -&gt; embedding)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57600" y="2212848"/>
            <a:ext cx="82296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7680960" y="2212848"/>
            <a:ext cx="82296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0" y="3246120"/>
            <a:ext cx="3017520" cy="777240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Fusion
(feature concatenation)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2788920"/>
            <a:ext cx="3337560" cy="457200"/>
          </a:xfrm>
          <a:prstGeom prst="line">
            <a:avLst/>
          </a:prstGeom>
          <a:ln w="25400">
            <a:solidFill>
              <a:srgbClr val="5B6B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6400800" y="2788920"/>
            <a:ext cx="3611880" cy="457200"/>
          </a:xfrm>
          <a:prstGeom prst="line">
            <a:avLst/>
          </a:prstGeom>
          <a:ln w="25400">
            <a:solidFill>
              <a:srgbClr val="5B6B7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ight Arrow 10"/>
          <p:cNvSpPr/>
          <p:nvPr/>
        </p:nvSpPr>
        <p:spPr>
          <a:xfrm>
            <a:off x="5806440" y="4224528"/>
            <a:ext cx="59436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4526280"/>
            <a:ext cx="3017520" cy="77724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Classification Head
(MLP, 3-class softmax)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06440" y="5504688"/>
            <a:ext cx="59436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6240" y="5806440"/>
            <a:ext cx="3749039" cy="777240"/>
          </a:xfrm>
          <a:prstGeom prst="roundRect">
            <a:avLst>
              <a:gd name="adj" fmla="val 15000"/>
            </a:avLst>
          </a:prstGeom>
          <a:solidFill>
            <a:srgbClr val="141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Output: Sentiment
(positive / neutral / negative)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63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5B6B7A"/>
                </a:solidFill>
                <a:latin typeface="Calibri"/>
              </a:rPr>
              <a:t>Full rationale: PROJECT_ARCHITECTURE.md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RESEARCH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Text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331720" cy="9144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Raw tweet
text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63240" y="2194560"/>
            <a:ext cx="32004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0" y="1920240"/>
            <a:ext cx="2331720" cy="914400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Clean
(URL / mention / emoji)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15000" y="2194560"/>
            <a:ext cx="32004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920240"/>
            <a:ext cx="2331720" cy="9144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Embed
(TF-IDF or DistilBERT)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366760" y="2194560"/>
            <a:ext cx="32004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920240"/>
            <a:ext cx="2331720" cy="914400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Classify
(Logistic Regression)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A1 — TF-IDF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475488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Unigrams + bigrams, 10k features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Class-weighted Logistic Regression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Test: 60.9% accuracy / 52.0% macro-F1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A2 — Frozen DistilBERT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75488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distilbert-base-uncased, mean-pooled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Chosen for CPU-only feasibility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Test: 61.6% accuracy / 54.6% macro-F1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RESEARCH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Image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331720" cy="9144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Raw
image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63240" y="2194560"/>
            <a:ext cx="32004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0" y="1920240"/>
            <a:ext cx="2331720" cy="914400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Resize /
normalize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715000" y="2194560"/>
            <a:ext cx="32004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35040" y="1920240"/>
            <a:ext cx="2331720" cy="91440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Embed
(CNN or ResNet18)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366760" y="2194560"/>
            <a:ext cx="32004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0" y="1920240"/>
            <a:ext cx="2331720" cy="914400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Classify
(Logistic Regression)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B1 — CNN from scratch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475488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Small 4-layer CNN, trained from scratch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Reduced to 96x96 / 3 epochs (CPU budget)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Test: 47.6% accuracy / 42.9% macro-F1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383280"/>
            <a:ext cx="521208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B2 — Frozen ResNet18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069080"/>
            <a:ext cx="4754880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ImageNet-pretrained, frozen feature extractor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Transfer learning over from-scratch training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Test: 52.7% accuracy / 42.8% macro-F1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RESEARCH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Multimodal Fusion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017520" cy="8229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Text embedding
(768-dim)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3017520" cy="822960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Image embedding
(512-dim)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86200" y="2286000"/>
            <a:ext cx="64008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3886200" y="3474720"/>
            <a:ext cx="64008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63440" y="2514600"/>
            <a:ext cx="2743200" cy="822960"/>
          </a:xfrm>
          <a:prstGeom prst="roundRect">
            <a:avLst>
              <a:gd name="adj" fmla="val 15000"/>
            </a:avLst>
          </a:prstGeom>
          <a:solidFill>
            <a:srgbClr val="141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Concatenate
(1280-dim)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98079" y="2697480"/>
            <a:ext cx="640080" cy="36576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0" y="2514600"/>
            <a:ext cx="2834640" cy="8229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MLP classifier
(dropout, softmax)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97680"/>
            <a:ext cx="10332720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48056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Primary vs. ablation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983480"/>
            <a:ext cx="98755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Primary: feature-level (early) concatenation fusion — cheap to train on CPU, standard first fusion strategy in the literature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Ablation: late (decision-level) fusion — independent text/image classifiers' probabilities combined by averaging and by a validation-tuned weight (w_text = 0.80)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RESEARCH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Experimental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267712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B6834"/>
                </a:solidFill>
                <a:latin typeface="Cambria"/>
              </a:rPr>
              <a:t>Seed = 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36499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B7A"/>
                </a:solidFill>
                <a:latin typeface="Calibri"/>
              </a:rPr>
              <a:t>fixed throughout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210312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267712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B6834"/>
                </a:solidFill>
                <a:latin typeface="Cambria"/>
              </a:rPr>
              <a:t>CPU-only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36499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B7A"/>
                </a:solidFill>
                <a:latin typeface="Calibri"/>
              </a:rPr>
              <a:t>no GPU, 8GB 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267712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B6834"/>
                </a:solidFill>
                <a:latin typeface="Cambria"/>
              </a:rPr>
              <a:t>Macro-F1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36499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B7A"/>
                </a:solidFill>
                <a:latin typeface="Calibri"/>
              </a:rPr>
              <a:t>prioritized metric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210312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267712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B6834"/>
                </a:solidFill>
                <a:latin typeface="Cambria"/>
              </a:rPr>
              <a:t>3,611 / 450 / 450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364992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B7A"/>
                </a:solidFill>
                <a:latin typeface="Calibri"/>
              </a:rPr>
              <a:t>train / val /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16213E"/>
                </a:solidFill>
                <a:latin typeface="Calibri"/>
              </a:rPr>
              <a:t>•  Evaluation: accuracy, precision/recall/F1 (macro + weighted), confusion matrix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>
                <a:solidFill>
                  <a:srgbClr val="16213E"/>
                </a:solidFill>
                <a:latin typeface="Calibri"/>
              </a:rPr>
              <a:t>•  All numbers read directly from results/*.json, generated by actually-executed scripts under src/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RESULTS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44344" y="1640840"/>
            <a:ext cx="7672832" cy="4307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144" y="1691640"/>
            <a:ext cx="7571232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Multimodal fusion beats every unimodal model on every metric: 64.4% accuracy / 56.3% macro-F1.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RESULTS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Modality Conflict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54456" y="1686560"/>
            <a:ext cx="6246368" cy="4490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ality_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737360"/>
            <a:ext cx="6144768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0" y="1920240"/>
            <a:ext cx="393192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16213E"/>
                </a:solidFill>
                <a:latin typeface="Calibri"/>
              </a:rPr>
              <a:t>•  Text and image models disagree on 53.3% of test posts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16213E"/>
                </a:solidFill>
                <a:latin typeface="Calibri"/>
              </a:rPr>
              <a:t>•  On disagreement cases, fusion clearly wins: 57.1% vs. 50.0% (text) vs. 33.3% (image)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16213E"/>
                </a:solidFill>
                <a:latin typeface="Calibri"/>
              </a:rPr>
              <a:t>•  On agreement cases, a small regression: fusion 72.9% vs. text 74.8%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50">
                <a:solidFill>
                  <a:srgbClr val="16213E"/>
                </a:solidFill>
                <a:latin typeface="Calibri"/>
              </a:rPr>
              <a:t>•  An honest finding — not a blanket “multimodal always wins”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Explainability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1810512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2157984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Gradient x input token saliency — no extra library required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0175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999232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3346704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Grad-CAM via forward/backward hooks on ResNet18's last conv block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4187952"/>
            <a:ext cx="9784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Multimodal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535424"/>
            <a:ext cx="9784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Modality-ablation: zero one branch, observe the prediction 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B6B7A"/>
                </a:solidFill>
                <a:latin typeface="Calibri"/>
              </a:rPr>
              <a:t>Exploratory — not a rigorously validated attribution method (documented limitation).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IMPLEMENTATION —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Application &amp;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1137920" y="1549400"/>
            <a:ext cx="4216400" cy="46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predict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600200"/>
            <a:ext cx="41148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52920" y="1549400"/>
            <a:ext cx="4216400" cy="467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600200"/>
            <a:ext cx="41148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63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B6B7A"/>
                </a:solidFill>
                <a:latin typeface="Calibri"/>
              </a:rPr>
              <a:t>Predict page — real text + image analyzed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6263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5B6B7A"/>
                </a:solidFill>
                <a:latin typeface="Calibri"/>
              </a:rPr>
              <a:t>Research dashboard — model comparison &amp; confusion matrices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Technical Challenges &amp; Testing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4752" y="171907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Dead dataset link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2066544"/>
            <a:ext cx="6217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Official MVSA link returned 404, so we verified a Hugging Face mirror and used the published CLMLF split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277063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Out of memory / time 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3118104"/>
            <a:ext cx="6217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The from-scratch CNN was killed once for running out of memory and once exceeded the time budget. Fixed with a 96×96 pixel cache and 3 epochs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840479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822191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CPU-only compute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4169663"/>
            <a:ext cx="6217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Frozen DistilBERT / ResNet18 with cached embeddings (46–71 ms/sample)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892040"/>
            <a:ext cx="502920" cy="50292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4873752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Class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5221224"/>
            <a:ext cx="6217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5B6B7A"/>
                </a:solidFill>
                <a:latin typeface="Calibri"/>
              </a:rPr>
              <a:t>Neutral class is only about 10%. Fixed with class-weighted losses and macro-F1 model selection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83080"/>
            <a:ext cx="32918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947672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EB6834"/>
                </a:solidFill>
                <a:latin typeface="Cambria"/>
              </a:rPr>
              <a:t>32 /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95351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B7A"/>
                </a:solidFill>
                <a:latin typeface="Calibri"/>
              </a:rPr>
              <a:t>automated tests passing
(pytest)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49039"/>
            <a:ext cx="32918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913631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E2761"/>
                </a:solidFill>
                <a:latin typeface="Cambria"/>
              </a:rPr>
              <a:t>2 studies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4919471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5B6B7A"/>
                </a:solidFill>
                <a:latin typeface="Calibri"/>
              </a:rPr>
              <a:t>MVSA-Single (4,511 tweets)
+ Memotion (3,500 memes)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EXTENSION — RESEARCH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Study 2: Do Memes Leak Text into the Image?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603504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00">
                <a:solidFill>
                  <a:srgbClr val="16213E"/>
                </a:solidFill>
                <a:latin typeface="Calibri"/>
              </a:rPr>
              <a:t>•  Memes print their text directly onto the image, so an "image-only" model may simply be reading the text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00">
                <a:solidFill>
                  <a:srgbClr val="16213E"/>
                </a:solidFill>
                <a:latin typeface="Calibri"/>
              </a:rPr>
              <a:t>•  Dataset: Memotion (SemEval-2020 Task 8), stratified 3,500-meme subset (2,800 / 350 / 350), 3-class sentiment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00">
                <a:solidFill>
                  <a:srgbClr val="16213E"/>
                </a:solidFill>
                <a:latin typeface="Calibri"/>
              </a:rPr>
              <a:t>•  Same pipeline as Study 1 (A1, A2, B1, B2, C), with every image model trained twice: sharp vs. Gaussian-blurred (r = 14 px)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400">
                <a:solidFill>
                  <a:srgbClr val="16213E"/>
                </a:solidFill>
                <a:latin typeface="Calibri"/>
              </a:rPr>
              <a:t>•  Blur validated objectively: mean Laplacian variance 2022 → 1.5 (99.9% drop), so the text strokes are gone while colour and layout remain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828800"/>
            <a:ext cx="429768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Meme image (text printed on it)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9052560" y="2651760"/>
            <a:ext cx="457200" cy="41148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0" y="3154680"/>
            <a:ext cx="2011680" cy="8229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Sharp
→ ResNet18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3154680"/>
            <a:ext cx="2011680" cy="822960"/>
          </a:xfrm>
          <a:prstGeom prst="roundRect">
            <a:avLst>
              <a:gd name="adj" fmla="val 1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Blurred
→ ResNet18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052560" y="4069080"/>
            <a:ext cx="457200" cy="411480"/>
          </a:xfrm>
          <a:prstGeom prst="rightArrow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4572000"/>
            <a:ext cx="4297680" cy="822960"/>
          </a:xfrm>
          <a:prstGeom prst="roundRect">
            <a:avLst>
              <a:gd name="adj" fmla="val 15000"/>
            </a:avLst>
          </a:prstGeom>
          <a:solidFill>
            <a:srgbClr val="141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Compare image-only and fusion
sharp vs. blurred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RESULTS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Study 2 Results: Gain Comes from Embedded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89280" y="2422300"/>
            <a:ext cx="6410960" cy="3110679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arp_vs_bl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73100"/>
            <a:ext cx="6309360" cy="30090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23760" y="1783080"/>
            <a:ext cx="429768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300">
                <a:solidFill>
                  <a:srgbClr val="16213E"/>
                </a:solidFill>
                <a:latin typeface="Calibri"/>
              </a:rPr>
              <a:t>•  Sharp memes: fusion reaches 52.6% accuracy / 36.6% macro-F1, beating every unimodal model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300">
                <a:solidFill>
                  <a:srgbClr val="16213E"/>
                </a:solidFill>
                <a:latin typeface="Calibri"/>
              </a:rPr>
              <a:t>•  Blurring barely affects image-only (−1.4 pp accuracy)…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300">
                <a:solidFill>
                  <a:srgbClr val="16213E"/>
                </a:solidFill>
                <a:latin typeface="Calibri"/>
              </a:rPr>
              <a:t>•  …but removes most of the fusion gain (−10.9 pp accuracy, −3.6 pp macro-F1)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300">
                <a:solidFill>
                  <a:srgbClr val="16213E"/>
                </a:solidFill>
                <a:latin typeface="Calibri"/>
              </a:rPr>
              <a:t>•  Blurred fusion is within 2.3 pp of text-only accuracy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300">
                <a:solidFill>
                  <a:srgbClr val="16213E"/>
                </a:solidFill>
                <a:latin typeface="Calibri"/>
              </a:rPr>
              <a:t>•  Takeaway: on memes, "image" and "text" are not independent evidence. Fusion benefit depends on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Contribution &amp;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B6834"/>
                </a:solidFill>
                <a:latin typeface="Cambria"/>
              </a:rPr>
              <a:t>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49377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Real, same-conditions unimodal-vs-multimodal comparison on adequately-sized social-media data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Honest modality-conflict analysis, not a blanket “multimodal wins” claim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Documented resource-constrained reproduction (CPU-only, 8GB RAM)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83080"/>
            <a:ext cx="5394960" cy="4206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61"/>
                </a:solidFill>
                <a:latin typeface="Cambria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Sentiment labels, not mental-health-specific labels (documented proxy)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English-language, 2015–16-era Twitter data only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Small (~1–2%) cross-split duplication in the published split used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50">
                <a:solidFill>
                  <a:srgbClr val="16213E"/>
                </a:solidFill>
                <a:latin typeface="Calibri"/>
              </a:rPr>
              <a:t>•  From-scratch CNN baseline was compute-constrained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B6834"/>
                </a:solidFill>
                <a:latin typeface="Calibri"/>
              </a:rPr>
              <a:t>WHAT REMAINS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E2761"/>
                </a:solidFill>
                <a:latin typeface="Cambria"/>
              </a:rPr>
              <a:t>Next Plan &amp;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97840" y="2479040"/>
            <a:ext cx="6410960" cy="290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antt_viv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29840"/>
            <a:ext cx="6309360" cy="2804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783080"/>
            <a:ext cx="4389120" cy="44805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6213E"/>
                </a:solidFill>
                <a:latin typeface="Calibri"/>
              </a:rPr>
              <a:t>•  Oct 2026: re-run fusion/CNN over 5 seeds (mean ± std) + McNemar / bootstrap significance tests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6213E"/>
                </a:solidFill>
                <a:latin typeface="Calibri"/>
              </a:rPr>
              <a:t>•  Nov 2026: OCR-based text-masking ablation; full 6,992-meme Memotion run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6213E"/>
                </a:solidFill>
                <a:latin typeface="Calibri"/>
              </a:rPr>
              <a:t>•  Nov–Dec 2026: cross-modal attention fusion (stretch goal)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6213E"/>
                </a:solidFill>
                <a:latin typeface="Calibri"/>
              </a:rPr>
              <a:t>•  Dec 2026: merge both studies into one self-contained manuscript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6213E"/>
                </a:solidFill>
                <a:latin typeface="Calibri"/>
              </a:rPr>
              <a:t>•  Jan 2027: submit to target venue (e.g. IEEE ICCCNT), chosen with the guide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>
                <a:solidFill>
                  <a:srgbClr val="16213E"/>
                </a:solidFill>
                <a:latin typeface="Calibri"/>
              </a:rPr>
              <a:t>•  Feb–Mar 2027: revisions, final report, final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B6B7A"/>
                </a:solidFill>
                <a:latin typeface="Calibri"/>
              </a:rPr>
              <a:t>AI-Driven Multimodal Sentiment Analysis for Mental Health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B6B7A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617160" y="877824"/>
            <a:ext cx="621792" cy="621792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59144" y="877824"/>
            <a:ext cx="621792" cy="621792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B6834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Multimodal fusion provides a real, measurable, but conditional
improvement — concentrated where modalities disagree.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3931920"/>
            <a:ext cx="7955279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Tweets (Study 1): fusion 64.4% accuracy / 56.3% macro-F1 vs. best unimodal 61.6% / 54.6%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Memes (Study 2): most of the fusion gain disappears once embedded text is blurred away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•  Future work: multilingual data, attention fusion, mental-health-labelled multimodal data when 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AI-Driven Multimodal Sentiment Analysis for Mental Health Monitoring  |  Group 15  |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